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AB7EF-D7DA-454B-8412-71B88A66E625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7AE84-6702-4505-9CE6-5723A721C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57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C9E0B-5659-A1FA-1B61-E1051DB24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2794E-D35E-5C2D-FB82-995B9626B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F6A41-6AD0-EA76-2F19-05202C2E2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3C9-150D-4D8C-8584-A2024A194E50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EBAAC-884C-00AB-AF25-5786DB416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8C609-2145-91AB-85F5-A6EB54BDF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0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BA2A3-7114-931F-0B0E-01DE2B69A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55CD2-D2B8-E955-3983-013507E56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72D6F-C9E1-788D-5AE1-98E95321E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322A7-58CA-4A79-AFAD-D6B922D9B6BF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47100-CCE8-8085-7ACD-49A342F8E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2FF7B-5FAD-3903-D05A-38D64EEA6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45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756D-C00F-C0A4-BFA7-721759A8B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20660-0DB8-3C2B-367E-9FA9D594D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BC23F-B42E-EB0C-CC32-44AF2E6C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D7359-9A63-4FFD-A4EF-CCD862FD6CD5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DC392-278E-5C46-2D2A-0C7E05058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2C760-B129-FB9E-B5C9-8318E7267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65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67DD-7AF9-EA7F-D9B6-DE004BA4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3AB5D-F730-5DA3-1185-3014B2528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6254B7-F7D0-4A72-965E-4871584C2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6DD80-5DBE-01DD-321B-845E0568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F4255-07D6-42C9-8611-9878A8816FBF}" type="datetime1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D1ED3-C027-6825-A63A-2A3EFD4A7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2F128-5E77-BC75-C888-17FB5FE40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13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6B03-3627-FE6E-6EBF-40DA5C73E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B1FFF-584E-132F-2053-A9E0BA556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48F67-7C72-90A0-0768-3C2E6ADFB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2D6BB-D8C9-61C6-5E3D-911CA283B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E3BA90-57F7-E36B-900F-84F1AB1B1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55896-CC79-F8EF-C0F1-B090E9990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C871F-A80C-4047-83A2-92506878CEE2}" type="datetime1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0ABB79-9C86-C56C-9DFF-667A4E571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3B7912-A4E8-8776-8E74-A959F119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05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60510-5FD8-20F9-20DA-D64EDC51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9C3EC7-348F-E6EB-BBC4-F3D731014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BC01-03FB-4183-81FA-B40AD25E51BA}" type="datetime1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45D25-C7C1-BDE9-ED50-180566F0E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B3473-60ED-51D3-A982-CA48D9DE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54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4196D9-26E6-44CF-9053-61423FFC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4F55F-B211-4655-852D-6E7A8B676A38}" type="datetime1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120D07-295B-5830-EADD-0D5CEF1C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84831-4E3D-8AC5-2DBA-6BE104B7F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76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8FA8F-BA85-5845-2EE4-BCCED8C1B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000A2-5746-57F1-4F59-4ECBDC7C9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CA4B8-3E6E-80A9-7F62-1386908D8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3B06E-4C5E-1626-2611-430256C8B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4FC9F-CFD9-4294-905A-3936249FEA58}" type="datetime1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7C02A-03B8-B377-C2F1-FB37F8242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09702-0A29-5F96-7FE1-EAB0CFCEC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50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8C1D3-85C3-5099-8FD1-B90602B5B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075776-0E16-422A-1DEE-5DA3C5E72E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735D9-FA9A-DDF6-8C56-E4B5932C6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C805A-CA4A-A933-A2FB-283299ABD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3E856-11C2-4F3E-9A17-C4C414744847}" type="datetime1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B7967-8109-5A91-2D36-D3396D5E6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EE361-3EDC-F1BC-5270-6D213FAA1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857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6D5A0-DBA2-3DDD-B100-2B55E6A6C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5194B5-37AF-B839-C578-D2B5EAF59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F9CF3-3395-062D-6F77-BFAA70104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AFEA7-4CE0-4D69-B549-AC8F294D1EE1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FAA1A-56C0-8805-48FD-9F04C5D85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DA0BB-3DDE-882D-67C1-08ED331E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79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38582-37C3-20D4-A2F2-F201CCBABF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541251-2B41-164C-EB80-B82ECE54A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D93E4-A748-253B-3430-5BEE2804E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4F9A4-F395-4B1F-8357-E1D0B7E2FB5C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84D7A-23E2-D955-15B9-27EB425FE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97711-F329-23DE-F811-CB92602D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6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75000"/>
              </a:schemeClr>
            </a:gs>
            <a:gs pos="100000">
              <a:schemeClr val="accent6">
                <a:lumMod val="60000"/>
                <a:lumOff val="40000"/>
              </a:schemeClr>
            </a:gs>
            <a:gs pos="83000">
              <a:schemeClr val="accent6">
                <a:lumMod val="40000"/>
                <a:lumOff val="6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4E6F05-881D-7160-134A-D60766CF9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96C67-E492-2E97-5879-9364CBA71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A81E3-DA36-96A9-43DC-694F46AD3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B9C89-73E5-4D62-AAE7-015FD97017A3}" type="datetime1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33414-B405-005A-A1C5-2E3AD631F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CE7CB-DEB2-0915-B3C9-7CF686554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56179-888F-4A07-A98C-D0A9BD950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5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B8D5F-50FD-74A2-1FF6-083F06B7A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4695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DESIGN AND IMPLEMENTATION OF A GPS ASSISTED PRECISION BANANA PLANTING 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AD695-E56B-6720-246F-702E788C0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84946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Geospatial Analysis of Banana Planting Coordinates in Fountain University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403A60-DE9E-A7D0-2EE9-3452D362E6EE}"/>
              </a:ext>
            </a:extLst>
          </p:cNvPr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rPr dirty="0"/>
              <a:t>Fountain University, Department of Computer Science,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5AA505-7F80-F1D9-C324-6B46AA219B25}"/>
              </a:ext>
            </a:extLst>
          </p:cNvPr>
          <p:cNvSpPr txBox="1"/>
          <p:nvPr/>
        </p:nvSpPr>
        <p:spPr>
          <a:xfrm>
            <a:off x="274320" y="4864379"/>
            <a:ext cx="506279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en-US" i="1" dirty="0"/>
              <a:t>Junaid Sekinat</a:t>
            </a:r>
            <a:r>
              <a:rPr i="1" dirty="0"/>
              <a:t>– FUO</a:t>
            </a:r>
            <a:r>
              <a:rPr lang="en-US" i="1" dirty="0"/>
              <a:t>CV24</a:t>
            </a:r>
            <a:r>
              <a:rPr i="1" dirty="0"/>
              <a:t>0</a:t>
            </a:r>
            <a:r>
              <a:rPr lang="en-US" i="1" dirty="0"/>
              <a:t>033</a:t>
            </a:r>
            <a:endParaRPr i="1" dirty="0"/>
          </a:p>
          <a:p>
            <a:pPr>
              <a:defRPr sz="1800"/>
            </a:pPr>
            <a:r>
              <a:rPr i="1" dirty="0"/>
              <a:t>Department of Mathematical and Computer Scienc</a:t>
            </a:r>
            <a:r>
              <a:rPr dirty="0"/>
              <a:t>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AE1A4-B54B-8B44-9A10-D1AB90373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b="1" smtClean="0">
                <a:solidFill>
                  <a:schemeClr val="tx1"/>
                </a:solidFill>
              </a:rPr>
              <a:t>1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5519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8FAD7-C1FD-ADB5-28C9-11E64B46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Background and 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E18BF3-DB73-4B73-696D-9F4069565072}"/>
              </a:ext>
            </a:extLst>
          </p:cNvPr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rPr dirty="0"/>
              <a:t>Fountain University, Department of Computer Science, 2025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A03B14-6407-C8C5-9826-9CD0CCBF9BA0}"/>
              </a:ext>
            </a:extLst>
          </p:cNvPr>
          <p:cNvSpPr/>
          <p:nvPr/>
        </p:nvSpPr>
        <p:spPr>
          <a:xfrm>
            <a:off x="369122" y="1690687"/>
            <a:ext cx="3673337" cy="438926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92206E-C7BB-8853-EB84-A187563F59B0}"/>
              </a:ext>
            </a:extLst>
          </p:cNvPr>
          <p:cNvSpPr txBox="1">
            <a:spLocks/>
          </p:cNvSpPr>
          <p:nvPr/>
        </p:nvSpPr>
        <p:spPr>
          <a:xfrm>
            <a:off x="561475" y="1690688"/>
            <a:ext cx="3288632" cy="40756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DB1ED7-9742-43C8-4564-BFB6C9533FAD}"/>
              </a:ext>
            </a:extLst>
          </p:cNvPr>
          <p:cNvSpPr txBox="1"/>
          <p:nvPr/>
        </p:nvSpPr>
        <p:spPr>
          <a:xfrm>
            <a:off x="369121" y="1838609"/>
            <a:ext cx="348098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Importance of Banana and Plantain Farming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Banana and plantain are staple foods and important income sources in Nigeria.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are rich in nutrients and consumed year-round by millions of people.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widely cultivated in the southwestern region, including Osun State.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BDF1FF-DA98-9CF5-FD69-F5C4BE117203}"/>
              </a:ext>
            </a:extLst>
          </p:cNvPr>
          <p:cNvSpPr/>
          <p:nvPr/>
        </p:nvSpPr>
        <p:spPr>
          <a:xfrm>
            <a:off x="4355508" y="1690688"/>
            <a:ext cx="3673337" cy="438927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6E9A45-8FA3-8B0B-BCAE-C9542F9DDE84}"/>
              </a:ext>
            </a:extLst>
          </p:cNvPr>
          <p:cNvSpPr/>
          <p:nvPr/>
        </p:nvSpPr>
        <p:spPr>
          <a:xfrm>
            <a:off x="8341893" y="1690688"/>
            <a:ext cx="3673337" cy="438926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8A4A8A-76B3-3826-C8FD-A236E5B31A22}"/>
              </a:ext>
            </a:extLst>
          </p:cNvPr>
          <p:cNvSpPr txBox="1"/>
          <p:nvPr/>
        </p:nvSpPr>
        <p:spPr>
          <a:xfrm>
            <a:off x="8357475" y="1732580"/>
            <a:ext cx="379403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The Role of Precision Agriculture</a:t>
            </a:r>
          </a:p>
          <a:p>
            <a:pPr algn="ctr"/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Precision farming uses tools like GPS to improve field management.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With GPS, farmers can accurately measure spacing and track each plant's location.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makes it easier to monitor growth, detect problems early, and increase productivity.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F59839-3FEB-9438-3CFF-908078AD22F1}"/>
              </a:ext>
            </a:extLst>
          </p:cNvPr>
          <p:cNvSpPr txBox="1"/>
          <p:nvPr/>
        </p:nvSpPr>
        <p:spPr>
          <a:xfrm>
            <a:off x="4355506" y="1838609"/>
            <a:ext cx="379403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Challenges in Traditional Planting</a:t>
            </a:r>
          </a:p>
          <a:p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Most farmers plant without standard spacing, which reduces yield and plant health.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Without location records, it becomes hard to monitor or revisit specific plants.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Managing the field manually takes time, effort, and is often inaccurate.</a:t>
            </a:r>
          </a:p>
          <a:p>
            <a:endParaRPr lang="en-US" sz="2000" b="1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6086D53-952A-AAAF-865D-C42E77CC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b="1" smtClean="0">
                <a:solidFill>
                  <a:schemeClr val="tx1"/>
                </a:solidFill>
              </a:rPr>
              <a:t>2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818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D48D0E5-1477-25C8-D88B-2D32DB8E1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Objectives of the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726248-5866-4A76-A4C0-D7BA3CAAD0CC}"/>
              </a:ext>
            </a:extLst>
          </p:cNvPr>
          <p:cNvSpPr/>
          <p:nvPr/>
        </p:nvSpPr>
        <p:spPr>
          <a:xfrm>
            <a:off x="521520" y="1840848"/>
            <a:ext cx="8125175" cy="371664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2DF4DE-4793-751D-7409-AED12C1DB1A1}"/>
              </a:ext>
            </a:extLst>
          </p:cNvPr>
          <p:cNvSpPr txBox="1"/>
          <p:nvPr/>
        </p:nvSpPr>
        <p:spPr>
          <a:xfrm>
            <a:off x="521520" y="2071219"/>
            <a:ext cx="67615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assess how banana plants are spaced and how they are growing, using GPS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compare the growth performance of different banana varieties; Plantain and Cavendish.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find out which spacing ranges are most likely to result in healthy plant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visualize the entire plantation on a map and identify any patterns or problem areas.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C14D07-F0BC-4601-0E33-9885195C9D14}"/>
              </a:ext>
            </a:extLst>
          </p:cNvPr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rPr dirty="0"/>
              <a:t>Fountain University, Department of Computer Science, 2025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4EF2C6-5B81-2253-7220-CF39C4FE6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b="1" smtClean="0">
                <a:solidFill>
                  <a:schemeClr val="tx1"/>
                </a:solidFill>
              </a:rPr>
              <a:t>3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587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EE6757-FF05-3161-00C3-A778E426415F}"/>
              </a:ext>
            </a:extLst>
          </p:cNvPr>
          <p:cNvSpPr/>
          <p:nvPr/>
        </p:nvSpPr>
        <p:spPr>
          <a:xfrm>
            <a:off x="8095587" y="1690688"/>
            <a:ext cx="3673337" cy="31393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E65458-A0E1-5C1A-2DBE-437CD00573D1}"/>
              </a:ext>
            </a:extLst>
          </p:cNvPr>
          <p:cNvSpPr/>
          <p:nvPr/>
        </p:nvSpPr>
        <p:spPr>
          <a:xfrm>
            <a:off x="4199477" y="1690688"/>
            <a:ext cx="3673337" cy="31393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B42ED9-891C-133F-B166-6F6FD0D72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Dataset Overview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FE0503-4190-AC2D-59FD-A9CACFD898D5}"/>
              </a:ext>
            </a:extLst>
          </p:cNvPr>
          <p:cNvSpPr/>
          <p:nvPr/>
        </p:nvSpPr>
        <p:spPr>
          <a:xfrm>
            <a:off x="272945" y="1690688"/>
            <a:ext cx="3673337" cy="313932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33C604-1706-9200-9563-3B438CBDE5D6}"/>
              </a:ext>
            </a:extLst>
          </p:cNvPr>
          <p:cNvSpPr txBox="1"/>
          <p:nvPr/>
        </p:nvSpPr>
        <p:spPr>
          <a:xfrm>
            <a:off x="369121" y="1838609"/>
            <a:ext cx="348098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The dataset contains a total of </a:t>
            </a:r>
            <a:r>
              <a:rPr lang="en-US" altLang="en-US" b="1" dirty="0"/>
              <a:t>71 banana plants</a:t>
            </a:r>
            <a:r>
              <a:rPr lang="en-US" altLang="en-US" dirty="0"/>
              <a:t>, each with detailed records.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Each plant has a unique </a:t>
            </a:r>
            <a:r>
              <a:rPr lang="en-US" altLang="en-US" b="1" dirty="0"/>
              <a:t>Plant ID</a:t>
            </a:r>
            <a:r>
              <a:rPr lang="en-US" altLang="en-US" dirty="0"/>
              <a:t>, along with its </a:t>
            </a:r>
            <a:r>
              <a:rPr lang="en-US" altLang="en-US" b="1" dirty="0"/>
              <a:t>GPS coordinates</a:t>
            </a:r>
            <a:r>
              <a:rPr lang="en-US" altLang="en-US" dirty="0"/>
              <a:t> (latitude and longitude).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9E8465-60D2-7FF6-B16D-5998A38B7873}"/>
              </a:ext>
            </a:extLst>
          </p:cNvPr>
          <p:cNvSpPr txBox="1"/>
          <p:nvPr/>
        </p:nvSpPr>
        <p:spPr>
          <a:xfrm>
            <a:off x="4280441" y="1838608"/>
            <a:ext cx="34809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The </a:t>
            </a:r>
            <a:r>
              <a:rPr lang="en-US" altLang="en-US" b="1" dirty="0"/>
              <a:t>Plant Variety</a:t>
            </a:r>
            <a:r>
              <a:rPr lang="en-US" altLang="en-US" dirty="0"/>
              <a:t> is recorded as either </a:t>
            </a:r>
            <a:r>
              <a:rPr lang="en-US" altLang="en-US" i="1" dirty="0"/>
              <a:t>Plantain</a:t>
            </a:r>
            <a:r>
              <a:rPr lang="en-US" altLang="en-US" dirty="0"/>
              <a:t> or </a:t>
            </a:r>
            <a:r>
              <a:rPr lang="en-US" altLang="en-US" i="1" dirty="0"/>
              <a:t>Cavendish</a:t>
            </a:r>
            <a:r>
              <a:rPr lang="en-US" altLang="en-US" dirty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The </a:t>
            </a:r>
            <a:r>
              <a:rPr lang="en-US" altLang="en-US" b="1" dirty="0"/>
              <a:t>Growth Status</a:t>
            </a:r>
            <a:r>
              <a:rPr lang="en-US" altLang="en-US" dirty="0"/>
              <a:t> is categorized as </a:t>
            </a:r>
            <a:r>
              <a:rPr lang="en-US" altLang="en-US" i="1" dirty="0"/>
              <a:t>Healthy</a:t>
            </a:r>
            <a:r>
              <a:rPr lang="en-US" altLang="en-US" dirty="0"/>
              <a:t>, </a:t>
            </a:r>
            <a:r>
              <a:rPr lang="en-US" altLang="en-US" i="1" dirty="0"/>
              <a:t>Wilting</a:t>
            </a:r>
            <a:r>
              <a:rPr lang="en-US" altLang="en-US" dirty="0"/>
              <a:t>, or </a:t>
            </a:r>
            <a:r>
              <a:rPr lang="en-US" altLang="en-US" i="1" dirty="0"/>
              <a:t>Stunted</a:t>
            </a:r>
            <a:r>
              <a:rPr lang="en-US" altLang="en-US" dirty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A </a:t>
            </a:r>
            <a:r>
              <a:rPr lang="en-US" altLang="en-US" b="1" dirty="0"/>
              <a:t>Spacing column</a:t>
            </a:r>
            <a:r>
              <a:rPr lang="en-US" altLang="en-US" dirty="0"/>
              <a:t> was calculated using GPS data to measure the distance between each plant and its closest neighbor.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0875B-3147-AB3D-3F43-CA061EE74216}"/>
              </a:ext>
            </a:extLst>
          </p:cNvPr>
          <p:cNvSpPr txBox="1"/>
          <p:nvPr/>
        </p:nvSpPr>
        <p:spPr>
          <a:xfrm>
            <a:off x="8095587" y="1690688"/>
            <a:ext cx="34809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analysis was carried out using tools like: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Python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Pandas</a:t>
            </a:r>
            <a:r>
              <a:rPr lang="en-US" dirty="0"/>
              <a:t> for data handling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Geopy</a:t>
            </a:r>
            <a:r>
              <a:rPr lang="en-US" dirty="0"/>
              <a:t> for calculating spacing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Seaborn</a:t>
            </a:r>
            <a:r>
              <a:rPr lang="en-US" dirty="0"/>
              <a:t> for charts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Folium</a:t>
            </a:r>
            <a:r>
              <a:rPr lang="en-US" dirty="0"/>
              <a:t> for interactive map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94CAEE-8955-1BAB-E9A1-D36A0062686A}"/>
              </a:ext>
            </a:extLst>
          </p:cNvPr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rPr dirty="0"/>
              <a:t>Fountain University, Department of Computer Science, 2025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ECABFF7-FFBF-628B-93C9-58E77BE4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b="1" smtClean="0">
                <a:solidFill>
                  <a:schemeClr val="tx1"/>
                </a:solidFill>
              </a:rPr>
              <a:t>4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137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24F863-5574-4E93-C2D5-53E88DCFEFAE}"/>
              </a:ext>
            </a:extLst>
          </p:cNvPr>
          <p:cNvSpPr/>
          <p:nvPr/>
        </p:nvSpPr>
        <p:spPr>
          <a:xfrm>
            <a:off x="8022037" y="1948763"/>
            <a:ext cx="3673337" cy="25430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8E5BD8-C7B5-7763-E2E1-61159F176FB4}"/>
              </a:ext>
            </a:extLst>
          </p:cNvPr>
          <p:cNvSpPr/>
          <p:nvPr/>
        </p:nvSpPr>
        <p:spPr>
          <a:xfrm>
            <a:off x="4147491" y="1948763"/>
            <a:ext cx="3673337" cy="25430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4CB7-C3A1-40B6-F5F8-7BE3F3D051EE}"/>
              </a:ext>
            </a:extLst>
          </p:cNvPr>
          <p:cNvSpPr/>
          <p:nvPr/>
        </p:nvSpPr>
        <p:spPr>
          <a:xfrm>
            <a:off x="272945" y="1948763"/>
            <a:ext cx="3673337" cy="25430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4F2FE50-444A-FB67-2E1A-16215C303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Preprocessing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45C9E7-375F-0FFB-E247-28107F4EF4F5}"/>
              </a:ext>
            </a:extLst>
          </p:cNvPr>
          <p:cNvSpPr txBox="1"/>
          <p:nvPr/>
        </p:nvSpPr>
        <p:spPr>
          <a:xfrm>
            <a:off x="288982" y="2228671"/>
            <a:ext cx="34809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The spacing between each plant and its nearest neighbor was calculated using </a:t>
            </a:r>
            <a:r>
              <a:rPr lang="en-US" b="1" dirty="0"/>
              <a:t>GPS coordinates</a:t>
            </a:r>
            <a:r>
              <a:rPr lang="en-US" dirty="0"/>
              <a:t> with the help of the </a:t>
            </a:r>
            <a:r>
              <a:rPr lang="en-US" b="1" dirty="0" err="1"/>
              <a:t>Geopy</a:t>
            </a:r>
            <a:r>
              <a:rPr lang="en-US" dirty="0"/>
              <a:t> library.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646F5-CE07-A697-C46E-D1E01426D819}"/>
              </a:ext>
            </a:extLst>
          </p:cNvPr>
          <p:cNvSpPr txBox="1"/>
          <p:nvPr/>
        </p:nvSpPr>
        <p:spPr>
          <a:xfrm>
            <a:off x="4143062" y="2087263"/>
            <a:ext cx="34809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new column was created to categorize spacing into: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Below 2 meters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2 to 4 meters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Above 4 meters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2BBCD2-298C-FC21-6A20-6CDC1C04151B}"/>
              </a:ext>
            </a:extLst>
          </p:cNvPr>
          <p:cNvSpPr txBox="1"/>
          <p:nvPr/>
        </p:nvSpPr>
        <p:spPr>
          <a:xfrm>
            <a:off x="7997142" y="1948763"/>
            <a:ext cx="34809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The dataset was carefully checked to clean any missing or inconsistent values.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After preprocessing, the cleaned dataset was saved and made ready for analysis.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424131-B9DA-1973-E147-85FD00FD8EBE}"/>
              </a:ext>
            </a:extLst>
          </p:cNvPr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rPr dirty="0"/>
              <a:t>Fountain University, Department of Computer Science, 2025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4371D0E-6518-28F5-2721-6EB56E76C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b="1" smtClean="0">
                <a:solidFill>
                  <a:schemeClr val="tx1"/>
                </a:solidFill>
              </a:rPr>
              <a:t>5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747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B412A69-B7F6-2981-CDD7-ED9BD76BE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662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Growth Status and Variety Performance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5B6FDB-7164-79A0-4DC3-8A3C2E722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95" y="1514225"/>
            <a:ext cx="3745831" cy="38855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7B19CD-0C3B-0B2F-8E09-A5B355D39171}"/>
              </a:ext>
            </a:extLst>
          </p:cNvPr>
          <p:cNvSpPr txBox="1"/>
          <p:nvPr/>
        </p:nvSpPr>
        <p:spPr>
          <a:xfrm>
            <a:off x="569494" y="5469009"/>
            <a:ext cx="40025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Plantain</a:t>
            </a:r>
            <a:r>
              <a:rPr lang="en-US" dirty="0"/>
              <a:t> makes up 53.5% of all plants</a:t>
            </a:r>
          </a:p>
          <a:p>
            <a:r>
              <a:rPr lang="en-US" b="1" dirty="0"/>
              <a:t>Cavendish</a:t>
            </a:r>
            <a:r>
              <a:rPr lang="en-US" dirty="0"/>
              <a:t> makes up 46.5%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23ED60-AAD6-775D-76AE-573CB360A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419" y="1671387"/>
            <a:ext cx="7126760" cy="35152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5300427-93B7-C9C9-4B90-58BC9A921813}"/>
              </a:ext>
            </a:extLst>
          </p:cNvPr>
          <p:cNvSpPr txBox="1"/>
          <p:nvPr/>
        </p:nvSpPr>
        <p:spPr>
          <a:xfrm>
            <a:off x="5938545" y="5399777"/>
            <a:ext cx="4754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Cavendish</a:t>
            </a:r>
            <a:r>
              <a:rPr lang="en-US" altLang="en-US" dirty="0"/>
              <a:t> had more healthy plants, with 45.5% recorded as healthy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Plantain</a:t>
            </a:r>
            <a:r>
              <a:rPr lang="en-US" altLang="en-US" dirty="0"/>
              <a:t> showed higher rates of stunted (39.5%) and wilting (36.8%) growth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C694D9-AD02-CD96-3DF3-35E850B19D0C}"/>
              </a:ext>
            </a:extLst>
          </p:cNvPr>
          <p:cNvSpPr txBox="1"/>
          <p:nvPr/>
        </p:nvSpPr>
        <p:spPr>
          <a:xfrm>
            <a:off x="274320" y="659351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rPr dirty="0"/>
              <a:t>Fountain University, Department of Computer Science, 2025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91B8032-EC1F-9D29-DDAD-2B70B24B7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b="1" smtClean="0">
                <a:solidFill>
                  <a:schemeClr val="tx1"/>
                </a:solidFill>
              </a:rPr>
              <a:t>6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48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2DB922-AC8F-A297-890C-A51208F67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662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Effect of Spacing on Plant Growth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DD5179-51B9-88D0-DDBE-31900CCAC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47" y="1717701"/>
            <a:ext cx="5225716" cy="32260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C59F64-263B-2235-74B8-FB75393E8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900" y="1769838"/>
            <a:ext cx="6145853" cy="30339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771ADE-F4C6-2D73-9581-CCF2D9406B5B}"/>
              </a:ext>
            </a:extLst>
          </p:cNvPr>
          <p:cNvSpPr txBox="1"/>
          <p:nvPr/>
        </p:nvSpPr>
        <p:spPr>
          <a:xfrm>
            <a:off x="504073" y="4999488"/>
            <a:ext cx="45960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Healthy plants had a </a:t>
            </a:r>
            <a:r>
              <a:rPr lang="en-US" altLang="en-US" b="1" dirty="0"/>
              <a:t>median spacing of about 3.08 meters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Stunted and wilting plants were generally found at </a:t>
            </a:r>
            <a:r>
              <a:rPr lang="en-US" altLang="en-US" b="1" dirty="0"/>
              <a:t>closer spacing</a:t>
            </a:r>
            <a:r>
              <a:rPr lang="en-US" altLang="en-US" dirty="0"/>
              <a:t>, below 2 meters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8B52CF-EA51-4F0F-8F79-689EE08D5906}"/>
              </a:ext>
            </a:extLst>
          </p:cNvPr>
          <p:cNvSpPr txBox="1"/>
          <p:nvPr/>
        </p:nvSpPr>
        <p:spPr>
          <a:xfrm>
            <a:off x="6479758" y="4999488"/>
            <a:ext cx="45960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buFont typeface="Arial" panose="020B0604020202020204" pitchFamily="34" charset="0"/>
              <a:buChar char="•"/>
            </a:pPr>
            <a:r>
              <a:rPr lang="en-US" dirty="0"/>
              <a:t>When spacing was </a:t>
            </a:r>
            <a:r>
              <a:rPr lang="en-US" b="1" dirty="0"/>
              <a:t>above 4 meters</a:t>
            </a:r>
            <a:r>
              <a:rPr lang="en-US" dirty="0"/>
              <a:t>, 45.8% of the plants were healthy</a:t>
            </a:r>
          </a:p>
          <a:p>
            <a:pPr marL="285750" indent="-285750" eaLnBrk="0" fontAlgn="base" hangingPunct="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eaLnBrk="0" fontAlgn="base" hangingPunct="0">
              <a:buFont typeface="Arial" panose="020B0604020202020204" pitchFamily="34" charset="0"/>
              <a:buChar char="•"/>
            </a:pPr>
            <a:r>
              <a:rPr lang="en-US" b="1" dirty="0"/>
              <a:t>Tightly spaced plants</a:t>
            </a:r>
            <a:r>
              <a:rPr lang="en-US" dirty="0"/>
              <a:t> (below 2 meters) had the highest rates of poor growth</a:t>
            </a:r>
            <a:endParaRPr lang="en-US" dirty="0"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54C8A8-9860-1484-70E7-2C8FE62D2DEB}"/>
              </a:ext>
            </a:extLst>
          </p:cNvPr>
          <p:cNvSpPr txBox="1"/>
          <p:nvPr/>
        </p:nvSpPr>
        <p:spPr>
          <a:xfrm>
            <a:off x="274320" y="659351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rPr dirty="0"/>
              <a:t>Fountain University, Department of Computer Science, 2025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4C6AE70-F035-E8F6-1C3B-F347C0BB8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b="1" smtClean="0">
                <a:solidFill>
                  <a:schemeClr val="tx1"/>
                </a:solidFill>
              </a:rPr>
              <a:t>7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950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3C7A6AD-4997-21A0-3897-8FEF51A771F5}"/>
              </a:ext>
            </a:extLst>
          </p:cNvPr>
          <p:cNvSpPr/>
          <p:nvPr/>
        </p:nvSpPr>
        <p:spPr>
          <a:xfrm>
            <a:off x="3224979" y="4027895"/>
            <a:ext cx="3019225" cy="25430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CD1C91-4536-87A8-FE98-4124551BB488}"/>
              </a:ext>
            </a:extLst>
          </p:cNvPr>
          <p:cNvSpPr/>
          <p:nvPr/>
        </p:nvSpPr>
        <p:spPr>
          <a:xfrm>
            <a:off x="135294" y="4008232"/>
            <a:ext cx="3019225" cy="254302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B34D63E-8273-D44E-BD9C-7297946B4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51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Interactive Field Visualization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4BB5FE-B244-7DDA-383C-AA86FEF14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625" y="3858069"/>
            <a:ext cx="4840806" cy="25332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D0E0F7-CEA2-E946-BE47-55C95E760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54" y="1239998"/>
            <a:ext cx="4840805" cy="25332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CE6168-C60B-239B-7D3F-A39E016D9F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625" y="1112649"/>
            <a:ext cx="4840806" cy="2533289"/>
          </a:xfrm>
          <a:prstGeom prst="rect">
            <a:avLst/>
          </a:prstGeom>
        </p:spPr>
      </p:pic>
      <p:sp>
        <p:nvSpPr>
          <p:cNvPr id="11" name="TextBox 8">
            <a:extLst>
              <a:ext uri="{FF2B5EF4-FFF2-40B4-BE49-F238E27FC236}">
                <a16:creationId xmlns:a16="http://schemas.microsoft.com/office/drawing/2014/main" id="{06771ADE-F4C6-2D73-9581-CCF2D9406B5B}"/>
              </a:ext>
            </a:extLst>
          </p:cNvPr>
          <p:cNvSpPr txBox="1"/>
          <p:nvPr/>
        </p:nvSpPr>
        <p:spPr>
          <a:xfrm>
            <a:off x="205754" y="3995678"/>
            <a:ext cx="30192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What the Map Shows:</a:t>
            </a:r>
          </a:p>
          <a:p>
            <a:r>
              <a:rPr lang="en-US" b="1" dirty="0"/>
              <a:t>Each plant is marked on an interactive Folium map using its GPS coordinates.</a:t>
            </a:r>
          </a:p>
          <a:p>
            <a:r>
              <a:rPr lang="en-US" b="1" dirty="0"/>
              <a:t>Marker colors represent plant health:</a:t>
            </a:r>
          </a:p>
          <a:p>
            <a:pPr lvl="1"/>
            <a:r>
              <a:rPr lang="en-US" b="1" dirty="0"/>
              <a:t>🟢 Green for Healthy</a:t>
            </a:r>
          </a:p>
          <a:p>
            <a:pPr lvl="1"/>
            <a:r>
              <a:rPr lang="en-US" b="1" dirty="0"/>
              <a:t>🟠 Orange for Stunted</a:t>
            </a:r>
          </a:p>
          <a:p>
            <a:pPr lvl="1"/>
            <a:r>
              <a:rPr lang="en-US" b="1" dirty="0"/>
              <a:t>🔴 Red for Wilting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/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16C99B69-E25C-825A-F83E-181AEFD96982}"/>
              </a:ext>
            </a:extLst>
          </p:cNvPr>
          <p:cNvSpPr txBox="1"/>
          <p:nvPr/>
        </p:nvSpPr>
        <p:spPr>
          <a:xfrm>
            <a:off x="3224978" y="4136049"/>
            <a:ext cx="30192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Clicking on a marker reveals plant details like: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Variety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Spacing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Growth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Latitude &amp; Longitude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56BCA3-6A2D-5790-90B1-D82B10719969}"/>
              </a:ext>
            </a:extLst>
          </p:cNvPr>
          <p:cNvSpPr txBox="1"/>
          <p:nvPr/>
        </p:nvSpPr>
        <p:spPr>
          <a:xfrm>
            <a:off x="274320" y="6583680"/>
            <a:ext cx="33650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rPr b="1" dirty="0"/>
              <a:t>Fountain University, Department of Computer Science, 2025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7859A76-78F2-F688-E7A4-9AB161DB6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b="1" smtClean="0">
                <a:solidFill>
                  <a:schemeClr val="tx1"/>
                </a:solidFill>
              </a:rPr>
              <a:t>8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087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FF4491C-F0F2-9F8D-DDA1-9575EC3F8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662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Key Findings and Takeaways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8F22A4-023E-3DAE-E90D-2A5732DB6C11}"/>
              </a:ext>
            </a:extLst>
          </p:cNvPr>
          <p:cNvSpPr/>
          <p:nvPr/>
        </p:nvSpPr>
        <p:spPr>
          <a:xfrm>
            <a:off x="959058" y="1690686"/>
            <a:ext cx="3673337" cy="417979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CF9D6-09A6-28F4-85D7-F153DD542761}"/>
              </a:ext>
            </a:extLst>
          </p:cNvPr>
          <p:cNvSpPr txBox="1"/>
          <p:nvPr/>
        </p:nvSpPr>
        <p:spPr>
          <a:xfrm>
            <a:off x="959058" y="1900161"/>
            <a:ext cx="348098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Plants that were spaced </a:t>
            </a:r>
            <a:r>
              <a:rPr lang="en-US" b="1" dirty="0"/>
              <a:t>too closely together</a:t>
            </a:r>
            <a:r>
              <a:rPr lang="en-US" dirty="0"/>
              <a:t> (especially below 2 meters) were more likely to be </a:t>
            </a:r>
            <a:r>
              <a:rPr lang="en-US" b="1" dirty="0"/>
              <a:t>stunted or wilting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Cavendish variety</a:t>
            </a:r>
            <a:r>
              <a:rPr lang="en-US" dirty="0"/>
              <a:t> showed </a:t>
            </a:r>
            <a:r>
              <a:rPr lang="en-US" b="1" dirty="0"/>
              <a:t>better overall growth</a:t>
            </a:r>
            <a:r>
              <a:rPr lang="en-US" dirty="0"/>
              <a:t>, with more healthy plants compared to Plantain.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Wider and more consistent spacing</a:t>
            </a:r>
            <a:r>
              <a:rPr lang="en-US" dirty="0"/>
              <a:t> (above 4 meters) was linked to </a:t>
            </a:r>
            <a:r>
              <a:rPr lang="en-US" b="1" dirty="0"/>
              <a:t>healthier plant growth</a:t>
            </a:r>
            <a:r>
              <a:rPr lang="en-US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85A75-11D7-2371-E95A-0C35637BDF55}"/>
              </a:ext>
            </a:extLst>
          </p:cNvPr>
          <p:cNvSpPr/>
          <p:nvPr/>
        </p:nvSpPr>
        <p:spPr>
          <a:xfrm>
            <a:off x="6803922" y="1690686"/>
            <a:ext cx="3673337" cy="417979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F5F379-8E62-34CF-FE7A-D2883F09D9DE}"/>
              </a:ext>
            </a:extLst>
          </p:cNvPr>
          <p:cNvSpPr txBox="1"/>
          <p:nvPr/>
        </p:nvSpPr>
        <p:spPr>
          <a:xfrm>
            <a:off x="6803922" y="1900161"/>
            <a:ext cx="34809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Using </a:t>
            </a:r>
            <a:r>
              <a:rPr lang="en-US" b="1" dirty="0"/>
              <a:t>GPS data</a:t>
            </a:r>
            <a:r>
              <a:rPr lang="en-US" dirty="0"/>
              <a:t> made it easy to calculate spacing and </a:t>
            </a:r>
            <a:r>
              <a:rPr lang="en-US" b="1" dirty="0"/>
              <a:t>track individual plants</a:t>
            </a:r>
            <a:r>
              <a:rPr lang="en-US" dirty="0"/>
              <a:t> in the field.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With the map, farmers can </a:t>
            </a:r>
            <a:r>
              <a:rPr lang="en-US" b="1" dirty="0"/>
              <a:t>locate any plant instantly</a:t>
            </a:r>
            <a:r>
              <a:rPr lang="en-US" dirty="0"/>
              <a:t> by its coordinates, this makes it easier to check, treat, or replant specific plants when needed.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EAFDCC-5012-9CA2-5A65-C0BF4F4FCD46}"/>
              </a:ext>
            </a:extLst>
          </p:cNvPr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rPr dirty="0"/>
              <a:t>Fountain University, Department of Computer Science, 2025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24AF395-CA3F-6888-AAE7-CC681E0AD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b="1" smtClean="0">
                <a:solidFill>
                  <a:schemeClr val="tx1"/>
                </a:solidFill>
              </a:rPr>
              <a:t>9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579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1117015-33F2-7042-400C-90939E3BD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662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Conclusion &amp; Future 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CF0F59-8501-1AE5-FBF1-62604826B6CF}"/>
              </a:ext>
            </a:extLst>
          </p:cNvPr>
          <p:cNvSpPr/>
          <p:nvPr/>
        </p:nvSpPr>
        <p:spPr>
          <a:xfrm>
            <a:off x="339626" y="2304992"/>
            <a:ext cx="3673337" cy="25226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9B0E51-AD14-7C5E-66AC-C2B5DEFE006D}"/>
              </a:ext>
            </a:extLst>
          </p:cNvPr>
          <p:cNvSpPr txBox="1"/>
          <p:nvPr/>
        </p:nvSpPr>
        <p:spPr>
          <a:xfrm>
            <a:off x="435801" y="2383647"/>
            <a:ext cx="348098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This project showed how </a:t>
            </a:r>
            <a:r>
              <a:rPr lang="en-US" altLang="en-US" b="1" dirty="0"/>
              <a:t>GPS-assisted planting</a:t>
            </a:r>
            <a:r>
              <a:rPr lang="en-US" altLang="en-US" dirty="0"/>
              <a:t> can help monitor and improve banana plantation layout and growth.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We found that </a:t>
            </a:r>
            <a:r>
              <a:rPr lang="en-US" altLang="en-US" b="1" dirty="0"/>
              <a:t>plant spacing</a:t>
            </a:r>
            <a:r>
              <a:rPr lang="en-US" altLang="en-US" dirty="0"/>
              <a:t> and </a:t>
            </a:r>
            <a:r>
              <a:rPr lang="en-US" altLang="en-US" b="1" dirty="0"/>
              <a:t>variety choice</a:t>
            </a:r>
            <a:r>
              <a:rPr lang="en-US" altLang="en-US" dirty="0"/>
              <a:t> play a major role in plant health and performance.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867880-2D7E-8127-943F-70C0D9C3D6FE}"/>
              </a:ext>
            </a:extLst>
          </p:cNvPr>
          <p:cNvSpPr/>
          <p:nvPr/>
        </p:nvSpPr>
        <p:spPr>
          <a:xfrm>
            <a:off x="8371388" y="2304993"/>
            <a:ext cx="3673337" cy="25226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420E1-2782-63CE-9F54-E1E3BD1D3DF0}"/>
              </a:ext>
            </a:extLst>
          </p:cNvPr>
          <p:cNvSpPr txBox="1"/>
          <p:nvPr/>
        </p:nvSpPr>
        <p:spPr>
          <a:xfrm>
            <a:off x="8371388" y="2413337"/>
            <a:ext cx="34809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the future, this kind of analysis can be expanded by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Soil moisture readings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Planting depth sensors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Drone mapping</a:t>
            </a:r>
            <a:r>
              <a:rPr lang="en-US" dirty="0"/>
              <a:t> for large-scale field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3A587E-CEF9-B412-4D53-A128705BA03F}"/>
              </a:ext>
            </a:extLst>
          </p:cNvPr>
          <p:cNvSpPr/>
          <p:nvPr/>
        </p:nvSpPr>
        <p:spPr>
          <a:xfrm>
            <a:off x="4355507" y="2304993"/>
            <a:ext cx="3673337" cy="25226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B97763-F9D1-7E35-F1A2-677C56F205EC}"/>
              </a:ext>
            </a:extLst>
          </p:cNvPr>
          <p:cNvSpPr txBox="1"/>
          <p:nvPr/>
        </p:nvSpPr>
        <p:spPr>
          <a:xfrm>
            <a:off x="4451682" y="2631802"/>
            <a:ext cx="34809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The approach used here can be applied in </a:t>
            </a:r>
            <a:r>
              <a:rPr lang="en-US" altLang="en-US" b="1" dirty="0"/>
              <a:t>real-world banana farms</a:t>
            </a:r>
            <a:r>
              <a:rPr lang="en-US" altLang="en-US" dirty="0"/>
              <a:t> to guide planting decisions, reduce crowding, and improve yields.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07C543-2647-E016-A4E4-2524562DC51B}"/>
              </a:ext>
            </a:extLst>
          </p:cNvPr>
          <p:cNvSpPr txBox="1"/>
          <p:nvPr/>
        </p:nvSpPr>
        <p:spPr>
          <a:xfrm>
            <a:off x="27432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rPr dirty="0"/>
              <a:t>Fountain University, Department of Computer Science, 2025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CA30BEA-72B8-B11A-E58E-B261E7B5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b="1" smtClean="0">
                <a:solidFill>
                  <a:schemeClr val="tx1"/>
                </a:solidFill>
              </a:rPr>
              <a:t>10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694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406CD26-D6DA-22AA-A246-D1CDD9602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549" y="2528739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Thank you for listening!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07E85D-AF60-4BB5-A65B-703539C2DCB9}"/>
              </a:ext>
            </a:extLst>
          </p:cNvPr>
          <p:cNvSpPr txBox="1"/>
          <p:nvPr/>
        </p:nvSpPr>
        <p:spPr>
          <a:xfrm>
            <a:off x="274320" y="6583680"/>
            <a:ext cx="33650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</a:defRPr>
            </a:pPr>
            <a:r>
              <a:rPr b="1" dirty="0"/>
              <a:t>Fountain University, Department of Computer Science,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F145C-7822-6921-38DD-A964B8F02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56179-888F-4A07-A98C-D0A9BD950195}" type="slidenum">
              <a:rPr lang="en-US" b="1" smtClean="0">
                <a:solidFill>
                  <a:schemeClr val="tx1"/>
                </a:solidFill>
              </a:rPr>
              <a:t>11</a:t>
            </a:fld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281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885</Words>
  <Application>Microsoft Office PowerPoint</Application>
  <PresentationFormat>Widescreen</PresentationFormat>
  <Paragraphs>130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DESIGN AND IMPLEMENTATION OF A GPS ASSISTED PRECISION BANANA PLANTING  </vt:lpstr>
      <vt:lpstr>Background and Motivation</vt:lpstr>
      <vt:lpstr>Objectives of the Study</vt:lpstr>
      <vt:lpstr>Dataset Overview</vt:lpstr>
      <vt:lpstr>Preprocessing Steps</vt:lpstr>
      <vt:lpstr>Growth Status and Variety Performance</vt:lpstr>
      <vt:lpstr>Effect of Spacing on Plant Growth</vt:lpstr>
      <vt:lpstr>Interactive Field Visualization</vt:lpstr>
      <vt:lpstr>Key Findings and Takeaways</vt:lpstr>
      <vt:lpstr>Conclusion &amp; Future Work</vt:lpstr>
      <vt:lpstr>Thank you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</cp:revision>
  <dcterms:created xsi:type="dcterms:W3CDTF">2025-07-09T14:54:07Z</dcterms:created>
  <dcterms:modified xsi:type="dcterms:W3CDTF">2025-07-09T17:53:11Z</dcterms:modified>
</cp:coreProperties>
</file>